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9" r:id="rId3"/>
    <p:sldId id="260" r:id="rId4"/>
    <p:sldId id="261" r:id="rId5"/>
    <p:sldId id="271" r:id="rId6"/>
    <p:sldId id="262" r:id="rId7"/>
    <p:sldId id="263" r:id="rId8"/>
    <p:sldId id="265" r:id="rId9"/>
    <p:sldId id="266" r:id="rId10"/>
    <p:sldId id="270" r:id="rId11"/>
    <p:sldId id="268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5615" y="295275"/>
            <a:ext cx="52527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200" b="1">
                <a:latin typeface="Times New Roman" panose="02020503050405090304" charset="0"/>
                <a:ea typeface="黑体" charset="0"/>
                <a:cs typeface="黑体" charset="0"/>
              </a:rPr>
              <a:t>实体标识符</a:t>
            </a:r>
            <a:r>
              <a:rPr lang="en-US" altLang="zh-CN" sz="3200" b="1">
                <a:latin typeface="Times New Roman" panose="02020503050405090304" charset="0"/>
                <a:ea typeface="黑体" charset="0"/>
                <a:cs typeface="黑体" charset="0"/>
              </a:rPr>
              <a:t>/</a:t>
            </a:r>
            <a:r>
              <a:rPr lang="zh-CN" altLang="en-US" sz="3200" b="1">
                <a:latin typeface="Times New Roman" panose="02020503050405090304" charset="0"/>
                <a:ea typeface="黑体" charset="0"/>
                <a:cs typeface="黑体" charset="0"/>
              </a:rPr>
              <a:t>后缀</a:t>
            </a:r>
            <a:r>
              <a:rPr lang="en-US" altLang="zh-CN" sz="3200" b="1">
                <a:latin typeface="Times New Roman" panose="02020503050405090304" charset="0"/>
                <a:ea typeface="黑体" charset="0"/>
                <a:cs typeface="黑体" charset="0"/>
              </a:rPr>
              <a:t>ID</a:t>
            </a:r>
            <a:r>
              <a:rPr lang="zh-CN" altLang="en-US" sz="3200" b="1">
                <a:latin typeface="Times New Roman" panose="02020503050405090304" charset="0"/>
                <a:ea typeface="黑体" charset="0"/>
                <a:cs typeface="黑体" charset="0"/>
              </a:rPr>
              <a:t>选择</a:t>
            </a:r>
            <a:endParaRPr lang="zh-CN" altLang="en-US" sz="3200" b="1">
              <a:latin typeface="Times New Roman" panose="02020503050405090304" charset="0"/>
              <a:ea typeface="黑体" charset="0"/>
              <a:cs typeface="黑体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9785" y="878840"/>
            <a:ext cx="10589260" cy="6252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en-US" sz="2200">
                <a:latin typeface="Times New Roman" panose="02020503050405090304" charset="0"/>
                <a:ea typeface="黑体" charset="0"/>
                <a:sym typeface="+mn-ea"/>
              </a:rPr>
              <a:t></a:t>
            </a:r>
            <a:r>
              <a:rPr lang="zh-CN" altLang="en-US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基因和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RNA</a:t>
            </a:r>
            <a:r>
              <a:rPr lang="en-US" altLang="zh-CN" sz="2200">
                <a:latin typeface="Times New Roman" panose="02020503050405090304" charset="0"/>
                <a:ea typeface="黑体" charset="0"/>
                <a:cs typeface="黑体" charset="0"/>
              </a:rPr>
              <a:t>标识符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：从</a:t>
            </a:r>
            <a:r>
              <a:rPr lang="en-US" altLang="zh-CN" sz="2200">
                <a:latin typeface="Times New Roman" panose="02020503050405090304" charset="0"/>
                <a:ea typeface="黑体" charset="0"/>
                <a:cs typeface="黑体" charset="0"/>
              </a:rPr>
              <a:t>ENTREZ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中匹配最合适的术语，优先使用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ENTREZ:ID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进行标注。</a:t>
            </a:r>
            <a:endParaRPr lang="zh-CN" altLang="en-US" sz="2200">
              <a:latin typeface="Times New Roman" panose="02020503050405090304" charset="0"/>
              <a:ea typeface="黑体" charset="0"/>
              <a:cs typeface="黑体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>
                <a:latin typeface="Times New Roman" panose="02020503050405090304" charset="0"/>
                <a:ea typeface="黑体" charset="0"/>
                <a:sym typeface="+mn-ea"/>
              </a:rPr>
              <a:t>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蛋白质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标识符：将蛋白质转换为基因，从</a:t>
            </a:r>
            <a:r>
              <a:rPr lang="en-US" altLang="zh-CN" sz="2200">
                <a:latin typeface="Times New Roman" panose="02020503050405090304" charset="0"/>
                <a:ea typeface="黑体" charset="0"/>
                <a:cs typeface="黑体" charset="0"/>
              </a:rPr>
              <a:t>ENTREZ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中匹配最合适的术语，优先使用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ENTREZ:ID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进行标注。</a:t>
            </a:r>
            <a:endParaRPr lang="zh-CN" altLang="en-US" sz="2200">
              <a:latin typeface="Times New Roman" panose="02020503050405090304" charset="0"/>
              <a:ea typeface="黑体" charset="0"/>
              <a:cs typeface="黑体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>
                <a:latin typeface="Times New Roman" panose="02020503050405090304" charset="0"/>
                <a:ea typeface="黑体" charset="0"/>
                <a:sym typeface="+mn-ea"/>
              </a:rPr>
              <a:t>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疾病和疾病状态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标识符：从</a:t>
            </a:r>
            <a:r>
              <a:rPr lang="en-US" altLang="zh-CN" sz="2200">
                <a:latin typeface="Times New Roman" panose="02020503050405090304" charset="0"/>
                <a:ea typeface="黑体" charset="0"/>
                <a:cs typeface="黑体" charset="0"/>
              </a:rPr>
              <a:t>MONDO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中匹配最合适的术语，优先使用相应的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MONDO:ID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进行标注。</a:t>
            </a:r>
            <a:endParaRPr lang="zh-CN" altLang="en-US" sz="2200">
              <a:latin typeface="Times New Roman" panose="02020503050405090304" charset="0"/>
              <a:ea typeface="黑体" charset="0"/>
              <a:cs typeface="黑体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>
                <a:latin typeface="Times New Roman" panose="02020503050405090304" charset="0"/>
                <a:ea typeface="黑体" charset="0"/>
                <a:sym typeface="+mn-ea"/>
              </a:rPr>
              <a:t>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症状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标识符：从</a:t>
            </a:r>
            <a:r>
              <a:rPr lang="en-US" altLang="zh-CN" sz="2200">
                <a:latin typeface="Times New Roman" panose="02020503050405090304" charset="0"/>
                <a:ea typeface="黑体" charset="0"/>
                <a:cs typeface="黑体" charset="0"/>
              </a:rPr>
              <a:t>SYMP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中匹配最合适的术语，优先使用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SYMP:ID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进行标注。</a:t>
            </a:r>
            <a:endParaRPr lang="zh-CN" altLang="en-US" sz="2200">
              <a:latin typeface="Times New Roman" panose="02020503050405090304" charset="0"/>
              <a:ea typeface="黑体" charset="0"/>
              <a:cs typeface="黑体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>
                <a:latin typeface="Times New Roman" panose="02020503050405090304" charset="0"/>
                <a:ea typeface="黑体" charset="0"/>
                <a:sym typeface="+mn-ea"/>
              </a:rPr>
              <a:t>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代谢物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标识符：从</a:t>
            </a:r>
            <a:r>
              <a:rPr lang="en-US" altLang="zh-CN" sz="2200">
                <a:latin typeface="Times New Roman" panose="02020503050405090304" charset="0"/>
                <a:ea typeface="黑体" charset="0"/>
                <a:cs typeface="黑体" charset="0"/>
              </a:rPr>
              <a:t>HMDB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中匹配最合适的术语，优先使用相应的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HMDB:ID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进行标注。</a:t>
            </a:r>
            <a:endParaRPr lang="zh-CN" altLang="en-US" sz="2200">
              <a:latin typeface="Times New Roman" panose="02020503050405090304" charset="0"/>
              <a:ea typeface="黑体" charset="0"/>
              <a:cs typeface="黑体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>
                <a:latin typeface="Times New Roman" panose="02020503050405090304" charset="0"/>
                <a:ea typeface="黑体" charset="0"/>
                <a:sym typeface="+mn-ea"/>
              </a:rPr>
              <a:t>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通路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标识符：从</a:t>
            </a:r>
            <a:r>
              <a:rPr lang="en-US" altLang="zh-CN" sz="2200">
                <a:latin typeface="Times New Roman" panose="02020503050405090304" charset="0"/>
                <a:ea typeface="黑体" charset="0"/>
                <a:cs typeface="黑体" charset="0"/>
              </a:rPr>
              <a:t>KEGG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或</a:t>
            </a:r>
            <a:r>
              <a:rPr lang="en-US" altLang="zh-CN" sz="2200">
                <a:latin typeface="Times New Roman" panose="02020503050405090304" charset="0"/>
                <a:ea typeface="黑体" charset="0"/>
                <a:cs typeface="黑体" charset="0"/>
              </a:rPr>
              <a:t>React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中匹配最合适的术语，优先使用相应的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KEGG:ID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进行标注，其次为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React:ID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，最后为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WikiPathway:ID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。</a:t>
            </a:r>
            <a:endParaRPr lang="zh-CN" altLang="en-US" sz="2200">
              <a:latin typeface="Times New Roman" panose="02020503050405090304" charset="0"/>
              <a:ea typeface="黑体" charset="0"/>
              <a:cs typeface="黑体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>
                <a:latin typeface="Times New Roman" panose="02020503050405090304" charset="0"/>
                <a:ea typeface="黑体" charset="0"/>
                <a:sym typeface="+mn-ea"/>
              </a:rPr>
              <a:t>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解剖学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结构标识符：从</a:t>
            </a:r>
            <a:r>
              <a:rPr lang="en-US" altLang="zh-CN" sz="2200">
                <a:latin typeface="Times New Roman" panose="02020503050405090304" charset="0"/>
                <a:ea typeface="黑体" charset="0"/>
                <a:cs typeface="黑体" charset="0"/>
              </a:rPr>
              <a:t>MESH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中匹配最合适的术语，优先使用相应的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MESH:ID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进行标注。</a:t>
            </a:r>
            <a:endParaRPr lang="zh-CN" altLang="en-US" sz="2200">
              <a:latin typeface="Times New Roman" panose="02020503050405090304" charset="0"/>
              <a:ea typeface="黑体" charset="0"/>
              <a:cs typeface="黑体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>
                <a:latin typeface="Times New Roman" panose="02020503050405090304" charset="0"/>
                <a:ea typeface="黑体" charset="0"/>
                <a:sym typeface="+mn-ea"/>
              </a:rPr>
              <a:t>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药物及化学物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质标识符：从</a:t>
            </a:r>
            <a:r>
              <a:rPr lang="en-US" altLang="zh-CN" sz="2200">
                <a:latin typeface="Times New Roman" panose="02020503050405090304" charset="0"/>
                <a:ea typeface="黑体" charset="0"/>
                <a:cs typeface="黑体" charset="0"/>
              </a:rPr>
              <a:t>DrugBank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中匹配最合适的术语，优先使用相应的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DrugBank:ID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进行标注。</a:t>
            </a:r>
            <a:endParaRPr lang="zh-CN" altLang="en-US" sz="2200">
              <a:latin typeface="Times New Roman" panose="02020503050405090304" charset="0"/>
              <a:ea typeface="黑体" charset="0"/>
              <a:cs typeface="黑体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en-US" altLang="en-US" sz="2200">
                <a:latin typeface="Times New Roman" panose="02020503050405090304" charset="0"/>
                <a:ea typeface="黑体" charset="0"/>
                <a:sym typeface="+mn-ea"/>
              </a:rPr>
              <a:t>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细胞组成/生物过程/分子机制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标识符：从基因本体论</a:t>
            </a:r>
            <a:r>
              <a:rPr lang="en-US" altLang="zh-CN" sz="2200">
                <a:latin typeface="Times New Roman" panose="02020503050405090304" charset="0"/>
                <a:ea typeface="黑体" charset="0"/>
                <a:cs typeface="黑体" charset="0"/>
              </a:rPr>
              <a:t> (GO) 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中匹配最合适的术语，优先使用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cs typeface="黑体" charset="0"/>
              </a:rPr>
              <a:t>GO:ID</a:t>
            </a:r>
            <a:r>
              <a:rPr lang="zh-CN" altLang="en-US" sz="2200">
                <a:latin typeface="Times New Roman" panose="02020503050405090304" charset="0"/>
                <a:ea typeface="黑体" charset="0"/>
                <a:cs typeface="黑体" charset="0"/>
              </a:rPr>
              <a:t>进行标注。</a:t>
            </a:r>
            <a:endParaRPr lang="zh-CN" altLang="en-US" sz="2200">
              <a:latin typeface="Times New Roman" panose="02020503050405090304" charset="0"/>
              <a:ea typeface="黑体" charset="0"/>
              <a:cs typeface="黑体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zh-CN" altLang="en-US" sz="2200">
              <a:latin typeface="Times New Roman" panose="02020503050405090304" charset="0"/>
              <a:ea typeface="黑体" charset="0"/>
              <a:cs typeface="黑体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75615" y="41592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600" b="1">
                <a:latin typeface="Times New Roman" panose="02020503050405090304" charset="0"/>
                <a:ea typeface="黑体" charset="0"/>
                <a:cs typeface="黑体" charset="0"/>
              </a:rPr>
              <a:t>关系选择</a:t>
            </a:r>
            <a:endParaRPr lang="zh-CN" altLang="en-US" sz="3600" b="1">
              <a:latin typeface="Times New Roman" panose="02020503050405090304" charset="0"/>
              <a:ea typeface="黑体" charset="0"/>
              <a:cs typeface="黑体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3455" y="1264920"/>
            <a:ext cx="9542780" cy="2630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 sz="2200">
                <a:latin typeface="黑体" charset="0"/>
                <a:ea typeface="黑体" charset="0"/>
                <a:cs typeface="黑体" charset="0"/>
                <a:sym typeface="+mn-ea"/>
              </a:rPr>
              <a:t></a:t>
            </a:r>
            <a:r>
              <a:rPr lang="zh-CN" altLang="en-US" sz="2200">
                <a:latin typeface="黑体" charset="0"/>
                <a:ea typeface="黑体" charset="0"/>
                <a:cs typeface="黑体" charset="0"/>
              </a:rPr>
              <a:t>一定要在标注完实体后进行关系的选择；</a:t>
            </a:r>
            <a:endParaRPr lang="zh-CN" altLang="en-US" sz="2200"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 sz="2200">
                <a:latin typeface="黑体" charset="0"/>
                <a:ea typeface="黑体" charset="0"/>
                <a:cs typeface="黑体" charset="0"/>
                <a:sym typeface="+mn-ea"/>
              </a:rPr>
              <a:t></a:t>
            </a:r>
            <a:r>
              <a:rPr lang="zh-CN" altLang="en-US" sz="2200">
                <a:latin typeface="黑体" charset="0"/>
                <a:ea typeface="黑体" charset="0"/>
                <a:cs typeface="黑体" charset="0"/>
              </a:rPr>
              <a:t>优先选择与原文章内容相符合的关系，</a:t>
            </a:r>
            <a:r>
              <a:rPr lang="zh-CN" altLang="en-US" sz="220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</a:rPr>
              <a:t>尽量采用与原文一致的描述或表达选择实体之间的联系</a:t>
            </a:r>
            <a:r>
              <a:rPr lang="zh-CN" altLang="en-US" sz="2200">
                <a:latin typeface="黑体" charset="0"/>
                <a:ea typeface="黑体" charset="0"/>
                <a:cs typeface="黑体" charset="0"/>
              </a:rPr>
              <a:t>；</a:t>
            </a:r>
            <a:endParaRPr lang="zh-CN" altLang="en-US" sz="2200">
              <a:latin typeface="黑体" charset="0"/>
              <a:ea typeface="黑体" charset="0"/>
              <a:cs typeface="黑体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 sz="2200">
                <a:latin typeface="黑体" charset="0"/>
                <a:ea typeface="黑体" charset="0"/>
                <a:cs typeface="黑体" charset="0"/>
                <a:sym typeface="+mn-ea"/>
              </a:rPr>
              <a:t></a:t>
            </a:r>
            <a:r>
              <a:rPr lang="zh-CN" altLang="en-US" sz="2200">
                <a:latin typeface="黑体" charset="0"/>
                <a:ea typeface="黑体" charset="0"/>
                <a:cs typeface="黑体" charset="0"/>
              </a:rPr>
              <a:t>在确认文中没有提到具体联系或在系统中没有您所选择的关系，则选择</a:t>
            </a:r>
            <a:r>
              <a:rPr lang="en-US" altLang="zh-CN" sz="2200">
                <a:latin typeface="黑体" charset="0"/>
                <a:ea typeface="黑体" charset="0"/>
                <a:cs typeface="黑体" charset="0"/>
              </a:rPr>
              <a:t>be_associated_with</a:t>
            </a:r>
            <a:r>
              <a:rPr lang="zh-CN" altLang="en-US" sz="2200">
                <a:latin typeface="黑体" charset="0"/>
                <a:ea typeface="黑体" charset="0"/>
                <a:cs typeface="黑体" charset="0"/>
              </a:rPr>
              <a:t>这个笼统关系。</a:t>
            </a:r>
            <a:endParaRPr lang="zh-CN" altLang="en-US" sz="2200">
              <a:latin typeface="黑体" charset="0"/>
              <a:ea typeface="黑体" charset="0"/>
              <a:cs typeface="黑体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417900"/>
            <a:ext cx="10969200" cy="705600"/>
          </a:xfrm>
        </p:spPr>
        <p:txBody>
          <a:bodyPr/>
          <a:p>
            <a:r>
              <a:rPr lang="zh-CN" altLang="en-US" b="1">
                <a:latin typeface="Times New Roman" panose="02020503050405090304" charset="0"/>
                <a:ea typeface="黑体" charset="0"/>
                <a:sym typeface="+mn-ea"/>
              </a:rPr>
              <a:t>注意事项</a:t>
            </a:r>
            <a:endParaRPr lang="zh-CN" altLang="en-US" b="1">
              <a:latin typeface="Times New Roman" panose="02020503050405090304" charset="0"/>
              <a:ea typeface="黑体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276350"/>
            <a:ext cx="10968990" cy="5485765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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使用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Google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浏览器安装插件。</a:t>
            </a: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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标记时尽量不要加入空格的，例如</a:t>
            </a:r>
            <a:r>
              <a:rPr lang="en-US" altLang="zh-CN" sz="2200">
                <a:solidFill>
                  <a:schemeClr val="tx1"/>
                </a:solidFill>
                <a:highlight>
                  <a:srgbClr val="FFFF00"/>
                </a:highlight>
                <a:latin typeface="Times New Roman" panose="02020503050405090304" charset="0"/>
                <a:ea typeface="黑体" charset="0"/>
              </a:rPr>
              <a:t>  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Long COVID</a:t>
            </a:r>
            <a:r>
              <a:rPr lang="en-US" altLang="zh-CN" sz="2200">
                <a:solidFill>
                  <a:schemeClr val="tx1"/>
                </a:solidFill>
                <a:highlight>
                  <a:srgbClr val="FFFF00"/>
                </a:highlight>
                <a:latin typeface="Times New Roman" panose="02020503050405090304" charset="0"/>
                <a:ea typeface="黑体" charset="0"/>
              </a:rPr>
              <a:t>  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中高亮标记的前后空格应尽量避免选取，只取实体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Long COVID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为佳。</a:t>
            </a: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</a:t>
            </a:r>
            <a:r>
              <a:rPr lang="zh-CN" altLang="en-US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sym typeface="+mn-ea"/>
              </a:rPr>
              <a:t>标记实体全称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sym typeface="+mn-ea"/>
              </a:rPr>
              <a:t>+</a:t>
            </a:r>
            <a:r>
              <a:rPr lang="zh-CN" altLang="en-US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sym typeface="+mn-ea"/>
              </a:rPr>
              <a:t>缩写，括号内的内容也一同标记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，</a:t>
            </a:r>
            <a:b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</a:b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例如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myalgic encephalomyelitis / chronic fatigue syndrome (ME/CFS)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，而一些比较少见的缩写则一定需要标全称，方便后续回看。</a:t>
            </a: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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不需要重复标记一个内容（标记第一次出现的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entity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），但是在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key sentences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中还要再明确。</a:t>
            </a: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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每一篇文章都需要至少一句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key sentences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（其中有两个实体为佳）。</a:t>
            </a: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>
              <a:lnSpc>
                <a:spcPct val="150000"/>
              </a:lnSpc>
            </a:pP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417900"/>
            <a:ext cx="10969200" cy="705600"/>
          </a:xfrm>
        </p:spPr>
        <p:txBody>
          <a:bodyPr/>
          <a:p>
            <a:r>
              <a:rPr lang="zh-CN" altLang="en-US" b="1">
                <a:latin typeface="Times New Roman" panose="02020503050405090304" charset="0"/>
                <a:ea typeface="黑体" charset="0"/>
                <a:sym typeface="+mn-ea"/>
              </a:rPr>
              <a:t>注意事项</a:t>
            </a:r>
            <a:endParaRPr lang="zh-CN" altLang="en-US" b="1">
              <a:latin typeface="Times New Roman" panose="02020503050405090304" charset="0"/>
              <a:ea typeface="黑体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276350"/>
            <a:ext cx="10968990" cy="5485765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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尽量</a:t>
            </a:r>
            <a:r>
              <a:rPr lang="zh-CN" altLang="en-US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</a:rPr>
              <a:t>选择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</a:rPr>
              <a:t>Article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进行标注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，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不要选择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Review！</a:t>
            </a:r>
            <a:endParaRPr lang="en-US" altLang="zh-CN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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在选择联系类型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（Relation Type）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时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，</a:t>
            </a:r>
            <a:r>
              <a:rPr lang="zh-CN" altLang="en-US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</a:rPr>
              <a:t>一定要通读全文有概念后再选择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，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选择实体时也是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，</a:t>
            </a:r>
            <a:r>
              <a:rPr lang="zh-CN" altLang="en-US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</a:rPr>
              <a:t>避免所见即所得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</a:rPr>
              <a:t>，</a:t>
            </a:r>
            <a:r>
              <a:rPr lang="zh-CN" altLang="en-US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</a:rPr>
              <a:t>看见第一个实体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</a:rPr>
              <a:t>/</a:t>
            </a:r>
            <a:r>
              <a:rPr lang="zh-CN" altLang="en-US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</a:rPr>
              <a:t>联系出现就选了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。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若未找到实体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/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联系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，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可以看看其他内容</a:t>
            </a:r>
            <a:r>
              <a:rPr lang="zh-CN" altLang="en-US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</a:rPr>
              <a:t>是否存在类似或</a:t>
            </a:r>
            <a:r>
              <a:rPr lang="zh-CN" altLang="en-US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</a:rPr>
              <a:t>其他可标注的内容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</a:rPr>
              <a:t>，</a:t>
            </a:r>
            <a:r>
              <a:rPr lang="zh-CN" altLang="en-US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</a:rPr>
              <a:t>进行转化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。</a:t>
            </a:r>
            <a:endParaRPr lang="en-US" altLang="zh-CN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  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一般标注内容和关键句多位于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</a:rPr>
              <a:t>Results</a:t>
            </a:r>
            <a:r>
              <a:rPr lang="zh-CN" altLang="en-US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</a:rPr>
              <a:t>和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</a:rPr>
              <a:t>Conclusions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中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，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多注意一下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！</a:t>
            </a:r>
            <a:endParaRPr lang="en-US" altLang="zh-CN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417900"/>
            <a:ext cx="10969200" cy="705600"/>
          </a:xfrm>
        </p:spPr>
        <p:txBody>
          <a:bodyPr/>
          <a:p>
            <a:r>
              <a:rPr lang="zh-CN" altLang="en-US" b="1">
                <a:latin typeface="Times New Roman" panose="02020503050405090304" charset="0"/>
                <a:ea typeface="黑体" charset="0"/>
                <a:sym typeface="+mn-ea"/>
              </a:rPr>
              <a:t>常见问题</a:t>
            </a:r>
            <a:endParaRPr lang="zh-CN" altLang="en-US" b="1">
              <a:latin typeface="Times New Roman" panose="02020503050405090304" charset="0"/>
              <a:ea typeface="黑体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276350"/>
            <a:ext cx="10968990" cy="333375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Q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：蛋白质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如何在知识图谱编辑器中对齐，如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interleukin-8 / IL-8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。</a:t>
            </a: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A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：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IL-8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为白细胞介素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-8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，是一种由多种细胞产生的细胞因子，属于蛋白质实体。由于蛋白质在知识图谱编辑器中需要对齐基因实体，因此在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NCBI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中搜索后得出，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IL-8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的基因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ID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为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CXCL8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，在编辑器中搜索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CXCL8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即可出现对应实体，完成编辑（</a:t>
            </a:r>
            <a:r>
              <a:rPr lang="zh-CN" altLang="en-US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</a:rPr>
              <a:t>现已更新：悬浮到实体列表时，显示实体的详细信息，方便挑选实体（部分基因、药物等别名很多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）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。</a:t>
            </a: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030" y="0"/>
            <a:ext cx="1120330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417900"/>
            <a:ext cx="10969200" cy="705600"/>
          </a:xfrm>
        </p:spPr>
        <p:txBody>
          <a:bodyPr/>
          <a:p>
            <a:r>
              <a:rPr lang="zh-CN" altLang="en-US" b="1">
                <a:latin typeface="Times New Roman" panose="02020503050405090304" charset="0"/>
                <a:ea typeface="黑体" charset="0"/>
                <a:sym typeface="+mn-ea"/>
              </a:rPr>
              <a:t>常见问题</a:t>
            </a:r>
            <a:endParaRPr lang="zh-CN" altLang="en-US" b="1">
              <a:latin typeface="Times New Roman" panose="02020503050405090304" charset="0"/>
              <a:ea typeface="黑体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276350"/>
            <a:ext cx="10968990" cy="5137785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Q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：同一实体的不同名称，如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Post-Acute Sequelae of SARS-CoV-2 infection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（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PASC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）或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 Long-haul COVID 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或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 Post-COVID-19 Syndrome 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或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 Post-Acute COVID-19 Syndrome</a:t>
            </a:r>
            <a:endParaRPr lang="en-US" altLang="zh-CN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A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：统一对齐为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Long COVID-19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｜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MONDO:0100233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</a:rPr>
              <a:t>。</a:t>
            </a: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>
              <a:lnSpc>
                <a:spcPct val="150000"/>
              </a:lnSpc>
            </a:pP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Q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：为什么我搜索不出某个实体？</a:t>
            </a: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A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：首先查看编辑器中输入至少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3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个字母，为了提高搜索准确性，</a:t>
            </a:r>
            <a:r>
              <a:rPr lang="zh-CN" altLang="en-US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sym typeface="+mn-ea"/>
              </a:rPr>
              <a:t>小于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sym typeface="+mn-ea"/>
              </a:rPr>
              <a:t>3</a:t>
            </a:r>
            <a:r>
              <a:rPr lang="zh-CN" altLang="en-US" sz="2200">
                <a:solidFill>
                  <a:srgbClr val="FF0000"/>
                </a:solidFill>
                <a:latin typeface="Times New Roman" panose="02020503050405090304" charset="0"/>
                <a:ea typeface="黑体" charset="0"/>
                <a:sym typeface="+mn-ea"/>
              </a:rPr>
              <a:t>个字母的搜索不予显示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；其次是未进行实体规范化，建议使用规范化实体名称；最后是数据库中并没有这个实体，请标记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Unknown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。</a:t>
            </a: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417900"/>
            <a:ext cx="10969200" cy="705600"/>
          </a:xfrm>
        </p:spPr>
        <p:txBody>
          <a:bodyPr/>
          <a:p>
            <a:r>
              <a:rPr lang="zh-CN" altLang="en-US" b="1">
                <a:latin typeface="Times New Roman" panose="02020503050405090304" charset="0"/>
                <a:ea typeface="黑体" charset="0"/>
                <a:sym typeface="+mn-ea"/>
              </a:rPr>
              <a:t>常见问题</a:t>
            </a:r>
            <a:endParaRPr lang="zh-CN" altLang="en-US" b="1">
              <a:latin typeface="Times New Roman" panose="02020503050405090304" charset="0"/>
              <a:ea typeface="黑体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276350"/>
            <a:ext cx="10968990" cy="558165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Q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：标记内容中出现比值或多个并列实体，应该如何标记？</a:t>
            </a: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A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：标记每一个实体，在对标编辑器时，通过关键句表示比值。</a:t>
            </a: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Q：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标注实体时没有异常，当标注联系时出现乱码覆盖原文的情况？</a:t>
            </a: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A：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与朱老师沟通后发现是个人问题：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scholarscope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插件可能存在不兼容或冲突问题</a:t>
            </a: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A：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解决办法：关闭</a:t>
            </a:r>
            <a:r>
              <a:rPr lang="en-US" altLang="zh-CN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scholarscope</a:t>
            </a:r>
            <a:r>
              <a:rPr lang="zh-CN" altLang="en-US" sz="2200">
                <a:solidFill>
                  <a:schemeClr val="tx1"/>
                </a:solidFill>
                <a:latin typeface="Times New Roman" panose="02020503050405090304" charset="0"/>
                <a:ea typeface="黑体" charset="0"/>
                <a:sym typeface="+mn-ea"/>
              </a:rPr>
              <a:t>高亮或关闭插件</a:t>
            </a: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2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970" y="0"/>
            <a:ext cx="1089406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417900"/>
            <a:ext cx="10969200" cy="705600"/>
          </a:xfrm>
        </p:spPr>
        <p:txBody>
          <a:bodyPr/>
          <a:p>
            <a:r>
              <a:rPr lang="zh-CN" altLang="en-US" b="1">
                <a:latin typeface="Times New Roman" panose="02020503050405090304" charset="0"/>
                <a:ea typeface="黑体" charset="0"/>
                <a:sym typeface="+mn-ea"/>
              </a:rPr>
              <a:t>常见问题</a:t>
            </a:r>
            <a:endParaRPr lang="zh-CN" altLang="en-US" b="1">
              <a:latin typeface="Times New Roman" panose="02020503050405090304" charset="0"/>
              <a:ea typeface="黑体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123315"/>
            <a:ext cx="10968990" cy="5582285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  <a:sym typeface="+mn-ea"/>
              </a:rPr>
              <a:t>Q</a:t>
            </a:r>
            <a:r>
              <a:rPr lang="zh-CN" altLang="en-US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  <a:sym typeface="+mn-ea"/>
              </a:rPr>
              <a:t>：在同一篇文章中出现的</a:t>
            </a:r>
            <a:r>
              <a:rPr lang="en-US" altLang="zh-CN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  <a:sym typeface="+mn-ea"/>
              </a:rPr>
              <a:t>2</a:t>
            </a:r>
            <a:r>
              <a:rPr lang="zh-CN" altLang="en-US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  <a:sym typeface="+mn-ea"/>
              </a:rPr>
              <a:t>个实体，它们一定有某种联系，那么</a:t>
            </a:r>
            <a:r>
              <a:rPr lang="en-US" altLang="zh-CN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  <a:sym typeface="+mn-ea"/>
              </a:rPr>
              <a:t>associate with</a:t>
            </a:r>
            <a:r>
              <a:rPr lang="zh-CN" altLang="en-US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  <a:sym typeface="+mn-ea"/>
              </a:rPr>
              <a:t>在什么情况下使用？</a:t>
            </a:r>
            <a:endParaRPr lang="zh-CN" altLang="en-US" sz="2000">
              <a:solidFill>
                <a:schemeClr val="tx1"/>
              </a:solidFill>
              <a:latin typeface="黑体" charset="0"/>
              <a:ea typeface="黑体" charset="0"/>
              <a:cs typeface="黑体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  <a:sym typeface="+mn-ea"/>
              </a:rPr>
              <a:t>A</a:t>
            </a:r>
            <a:r>
              <a:rPr lang="zh-CN" altLang="en-US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  <a:sym typeface="+mn-ea"/>
              </a:rPr>
              <a:t>：分两种情况，对于两种实体，在文章多次明确提到了它们的关系，但列表中没有选项，可以反馈给开发者添加关系。当作者也不清楚两者的关系时，可以用</a:t>
            </a:r>
            <a:r>
              <a:rPr lang="en-US" altLang="zh-CN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  <a:sym typeface="+mn-ea"/>
              </a:rPr>
              <a:t>associate with</a:t>
            </a:r>
            <a:r>
              <a:rPr lang="zh-CN" altLang="en-US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  <a:sym typeface="+mn-ea"/>
              </a:rPr>
              <a:t>。</a:t>
            </a:r>
            <a:endParaRPr lang="zh-CN" altLang="en-US" sz="2000">
              <a:solidFill>
                <a:schemeClr val="tx1"/>
              </a:solidFill>
              <a:latin typeface="黑体" charset="0"/>
              <a:ea typeface="黑体" charset="0"/>
              <a:cs typeface="黑体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Q：Entity databse</a:t>
            </a:r>
            <a:r>
              <a:rPr lang="zh-CN" altLang="en-US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多了，但</a:t>
            </a:r>
            <a:r>
              <a:rPr lang="en-US" altLang="zh-CN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Association</a:t>
            </a:r>
            <a:r>
              <a:rPr lang="zh-CN" altLang="en-US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依旧有限（如</a:t>
            </a:r>
            <a:r>
              <a:rPr lang="en-US" altLang="zh-CN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compound</a:t>
            </a:r>
            <a:r>
              <a:rPr lang="zh-CN" altLang="en-US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和</a:t>
            </a:r>
            <a:r>
              <a:rPr lang="en-US" altLang="zh-CN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autonomy</a:t>
            </a:r>
            <a:r>
              <a:rPr lang="zh-CN" altLang="en-US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等），</a:t>
            </a:r>
            <a:r>
              <a:rPr lang="zh-CN" altLang="en-US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并且没有</a:t>
            </a:r>
            <a:r>
              <a:rPr lang="en-US" altLang="zh-CN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is assicoated with</a:t>
            </a:r>
            <a:r>
              <a:rPr lang="zh-CN" altLang="en-US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这一选项了</a:t>
            </a:r>
            <a:endParaRPr lang="zh-CN" altLang="en-US" sz="2000">
              <a:solidFill>
                <a:schemeClr val="tx1"/>
              </a:solidFill>
              <a:latin typeface="黑体" charset="0"/>
              <a:ea typeface="黑体" charset="0"/>
              <a:cs typeface="黑体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A：</a:t>
            </a:r>
            <a:r>
              <a:rPr lang="zh-CN" altLang="en-US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关系类型的提炼得靠我们自己添加，可以让他们添加的时候记录下需要增加哪些关系类型。如果常出现的的话可以考虑加一下（</a:t>
            </a:r>
            <a:r>
              <a:rPr lang="zh-CN" altLang="en-US" sz="200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</a:rPr>
              <a:t>在标注过程中如果出现了新的关系，自己记录下，出现的次数和文献，以便后续统计和更新</a:t>
            </a:r>
            <a:r>
              <a:rPr lang="zh-CN" altLang="en-US" sz="2000">
                <a:solidFill>
                  <a:schemeClr val="tx1"/>
                </a:solidFill>
                <a:latin typeface="黑体" charset="0"/>
                <a:ea typeface="黑体" charset="0"/>
                <a:cs typeface="黑体" charset="0"/>
              </a:rPr>
              <a:t>）</a:t>
            </a:r>
            <a:endParaRPr lang="zh-CN" altLang="en-US" sz="2000">
              <a:solidFill>
                <a:schemeClr val="tx1"/>
              </a:solidFill>
              <a:latin typeface="黑体" charset="0"/>
              <a:ea typeface="黑体" charset="0"/>
              <a:cs typeface="黑体" charset="0"/>
            </a:endParaRPr>
          </a:p>
          <a:p>
            <a:pPr>
              <a:lnSpc>
                <a:spcPct val="150000"/>
              </a:lnSpc>
            </a:pPr>
            <a:endParaRPr lang="zh-CN" altLang="en-US" sz="20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>
              <a:lnSpc>
                <a:spcPct val="150000"/>
              </a:lnSpc>
            </a:pPr>
            <a:endParaRPr lang="zh-CN" altLang="en-US" sz="20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000">
              <a:solidFill>
                <a:schemeClr val="tx1"/>
              </a:solidFill>
              <a:latin typeface="Times New Roman" panose="02020503050405090304" charset="0"/>
              <a:ea typeface="黑体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2040</Words>
  <Application>WPS 文字</Application>
  <PresentationFormat>宽屏</PresentationFormat>
  <Paragraphs>67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Times New Roman</vt:lpstr>
      <vt:lpstr>黑体</vt:lpstr>
      <vt:lpstr>汉仪中黑KW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  <vt:lpstr>PowerPoint 演示文稿</vt:lpstr>
      <vt:lpstr>注意事项</vt:lpstr>
      <vt:lpstr>注意事项</vt:lpstr>
      <vt:lpstr>常见问题</vt:lpstr>
      <vt:lpstr>PowerPoint 演示文稿</vt:lpstr>
      <vt:lpstr>常见问题</vt:lpstr>
      <vt:lpstr>常见问题</vt:lpstr>
      <vt:lpstr>PowerPoint 演示文稿</vt:lpstr>
      <vt:lpstr>常见问题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the cold wind burns</cp:lastModifiedBy>
  <cp:revision>188</cp:revision>
  <dcterms:created xsi:type="dcterms:W3CDTF">2025-04-27T02:40:32Z</dcterms:created>
  <dcterms:modified xsi:type="dcterms:W3CDTF">2025-04-27T02:40:32Z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2052-7.3.1.8967</vt:lpwstr>
  </property>
  <property fmtid="{D5CDD505-2E9C-101B-9397-08002B2CF9AE}" pid="3" name="ICV">
    <vt:lpwstr>4D5172B4E29F72FF20990D68743D4317_43</vt:lpwstr>
  </property>
</Properties>
</file>